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14"/>
  </p:notesMasterIdLst>
  <p:sldIdLst>
    <p:sldId id="256" r:id="rId3"/>
    <p:sldId id="267" r:id="rId4"/>
    <p:sldId id="262" r:id="rId5"/>
    <p:sldId id="266" r:id="rId6"/>
    <p:sldId id="258" r:id="rId7"/>
    <p:sldId id="259" r:id="rId8"/>
    <p:sldId id="260" r:id="rId9"/>
    <p:sldId id="261"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59" d="100"/>
          <a:sy n="59" d="100"/>
        </p:scale>
        <p:origin x="378"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C2383-0ED6-43DB-82DC-E24BE26D119F}"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D89CE2-54F0-4BC3-85C1-AFEECE72EBD9}" type="slidenum">
              <a:rPr lang="en-US" smtClean="0"/>
              <a:t>‹#›</a:t>
            </a:fld>
            <a:endParaRPr lang="en-US"/>
          </a:p>
        </p:txBody>
      </p:sp>
    </p:spTree>
    <p:extLst>
      <p:ext uri="{BB962C8B-B14F-4D97-AF65-F5344CB8AC3E}">
        <p14:creationId xmlns:p14="http://schemas.microsoft.com/office/powerpoint/2010/main" val="218540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186713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Total Employees</a:t>
            </a:r>
            <a:endParaRPr dirty="0"/>
          </a:p>
          <a:p>
            <a:r>
              <a:rPr b="0" dirty="0"/>
              <a:t>No alt text provided</a:t>
            </a:r>
            <a:endParaRPr dirty="0"/>
          </a:p>
          <a:p>
            <a:endParaRPr dirty="0"/>
          </a:p>
          <a:p>
            <a:r>
              <a:rPr b="1" dirty="0"/>
              <a:t>Attrition by Gender</a:t>
            </a:r>
            <a:endParaRPr dirty="0"/>
          </a:p>
          <a:p>
            <a:r>
              <a:rPr b="0" dirty="0"/>
              <a:t>No alt text provided</a:t>
            </a:r>
            <a:endParaRPr dirty="0"/>
          </a:p>
          <a:p>
            <a:endParaRPr dirty="0"/>
          </a:p>
          <a:p>
            <a:r>
              <a:rPr b="1" dirty="0"/>
              <a:t>Attrition by Education Field</a:t>
            </a:r>
            <a:endParaRPr dirty="0"/>
          </a:p>
          <a:p>
            <a:r>
              <a:rPr b="0" dirty="0"/>
              <a:t>No alt text provided</a:t>
            </a:r>
            <a:endParaRPr dirty="0"/>
          </a:p>
          <a:p>
            <a:endParaRPr dirty="0"/>
          </a:p>
          <a:p>
            <a:r>
              <a:rPr b="1" dirty="0"/>
              <a:t>Attrition by Age</a:t>
            </a:r>
            <a:endParaRPr dirty="0"/>
          </a:p>
          <a:p>
            <a:r>
              <a:rPr b="0" dirty="0"/>
              <a:t>No alt text provided</a:t>
            </a:r>
            <a:endParaRPr dirty="0"/>
          </a:p>
          <a:p>
            <a:endParaRPr dirty="0"/>
          </a:p>
          <a:p>
            <a:r>
              <a:rPr b="1" dirty="0"/>
              <a:t>Attrition by Work Life Balance</a:t>
            </a:r>
            <a:endParaRPr dirty="0"/>
          </a:p>
          <a:p>
            <a:r>
              <a:rPr b="0" dirty="0"/>
              <a:t>No alt text provided</a:t>
            </a:r>
            <a:endParaRPr dirty="0"/>
          </a:p>
          <a:p>
            <a:endParaRPr dirty="0"/>
          </a:p>
          <a:p>
            <a:r>
              <a:rPr b="1" dirty="0"/>
              <a:t>Attrition by Distance From Home</a:t>
            </a:r>
            <a:endParaRPr dirty="0"/>
          </a:p>
          <a:p>
            <a:r>
              <a:rPr b="0" dirty="0"/>
              <a:t>No alt text provided</a:t>
            </a:r>
            <a:endParaRPr dirty="0"/>
          </a:p>
          <a:p>
            <a:endParaRPr dirty="0"/>
          </a:p>
          <a:p>
            <a:r>
              <a:rPr b="1" dirty="0"/>
              <a:t>Attrition by Marital Status and Gender</a:t>
            </a:r>
            <a:endParaRPr dirty="0"/>
          </a:p>
          <a:p>
            <a:r>
              <a:rPr b="0" dirty="0"/>
              <a:t>No alt text provided</a:t>
            </a:r>
            <a:endParaRPr dirty="0"/>
          </a:p>
          <a:p>
            <a:endParaRPr dirty="0"/>
          </a:p>
          <a:p>
            <a:r>
              <a:rPr b="1" dirty="0"/>
              <a:t>Employees Remaining</a:t>
            </a:r>
            <a:endParaRPr dirty="0"/>
          </a:p>
          <a:p>
            <a:r>
              <a:rPr b="0" dirty="0"/>
              <a:t>No alt text provided</a:t>
            </a:r>
            <a:endParaRPr dirty="0"/>
          </a:p>
          <a:p>
            <a:endParaRPr dirty="0"/>
          </a:p>
          <a:p>
            <a:r>
              <a:rPr b="1" dirty="0"/>
              <a:t>Employees that left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Job role Count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barChart</a:t>
            </a:r>
            <a:endParaRPr dirty="0"/>
          </a:p>
          <a:p>
            <a:r>
              <a:rPr b="0" dirty="0"/>
              <a:t>No alt text provided</a:t>
            </a:r>
            <a:endParaRPr dirty="0"/>
          </a:p>
          <a:p>
            <a:endParaRPr dirty="0"/>
          </a:p>
          <a:p>
            <a:r>
              <a:rPr b="1" dirty="0"/>
              <a:t>donutChart</a:t>
            </a:r>
            <a:endParaRPr dirty="0"/>
          </a:p>
          <a:p>
            <a:r>
              <a:rPr b="0" dirty="0"/>
              <a:t>No alt text provided</a:t>
            </a:r>
            <a:endParaRPr dirty="0"/>
          </a:p>
          <a:p>
            <a:endParaRPr dirty="0"/>
          </a:p>
          <a:p>
            <a:r>
              <a:rPr b="1" dirty="0"/>
              <a:t>columnChart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tableEx</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Attrition by Age and Gender</a:t>
            </a:r>
            <a:endParaRPr dirty="0"/>
          </a:p>
          <a:p>
            <a:r>
              <a:rPr b="0" dirty="0"/>
              <a:t>No alt text provided</a:t>
            </a:r>
            <a:endParaRPr dirty="0"/>
          </a:p>
          <a:p>
            <a:endParaRPr dirty="0"/>
          </a:p>
          <a:p>
            <a:r>
              <a:rPr b="1" dirty="0"/>
              <a:t>Attrition by OverTime</a:t>
            </a:r>
            <a:endParaRPr dirty="0"/>
          </a:p>
          <a:p>
            <a:r>
              <a:rPr b="0" dirty="0"/>
              <a:t>No alt text provided</a:t>
            </a:r>
            <a:endParaRPr dirty="0"/>
          </a:p>
          <a:p>
            <a:endParaRPr dirty="0"/>
          </a:p>
          <a:p>
            <a:r>
              <a:rPr b="1" dirty="0"/>
              <a:t>Attrition by Performance Rating</a:t>
            </a:r>
            <a:endParaRPr dirty="0"/>
          </a:p>
          <a:p>
            <a:r>
              <a:rPr b="0" dirty="0"/>
              <a:t>No alt text provided</a:t>
            </a:r>
            <a:endParaRPr dirty="0"/>
          </a:p>
          <a:p>
            <a:endParaRPr dirty="0"/>
          </a:p>
          <a:p>
            <a:r>
              <a:rPr b="1" dirty="0"/>
              <a:t>Attrition by Overtime</a:t>
            </a:r>
            <a:endParaRPr dirty="0"/>
          </a:p>
          <a:p>
            <a:r>
              <a:rPr b="0" dirty="0"/>
              <a:t>No alt text provided</a:t>
            </a:r>
            <a:endParaRPr dirty="0"/>
          </a:p>
          <a:p>
            <a:endParaRPr dirty="0"/>
          </a:p>
          <a:p>
            <a:r>
              <a:rPr b="1" dirty="0"/>
              <a:t>Average of Monthly Income and Attrition by Job Role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Attrition by Job Involvement</a:t>
            </a:r>
            <a:endParaRPr dirty="0"/>
          </a:p>
          <a:p>
            <a:r>
              <a:rPr b="0" dirty="0"/>
              <a:t>No alt text provided</a:t>
            </a:r>
            <a:endParaRPr dirty="0"/>
          </a:p>
          <a:p>
            <a:endParaRPr dirty="0"/>
          </a:p>
          <a:p>
            <a:r>
              <a:rPr b="1" dirty="0"/>
              <a:t>Attrition by Relationship Satisfaction</a:t>
            </a:r>
            <a:endParaRPr dirty="0"/>
          </a:p>
          <a:p>
            <a:r>
              <a:rPr b="0" dirty="0"/>
              <a:t>No alt text provided</a:t>
            </a:r>
            <a:endParaRPr dirty="0"/>
          </a:p>
          <a:p>
            <a:endParaRPr dirty="0"/>
          </a:p>
          <a:p>
            <a:r>
              <a:rPr b="1" dirty="0"/>
              <a:t>Attrition by Work Life Balance</a:t>
            </a:r>
            <a:endParaRPr dirty="0"/>
          </a:p>
          <a:p>
            <a:r>
              <a:rPr b="0" dirty="0"/>
              <a:t>No alt text provided</a:t>
            </a:r>
            <a:endParaRPr dirty="0"/>
          </a:p>
          <a:p>
            <a:endParaRPr dirty="0"/>
          </a:p>
          <a:p>
            <a:r>
              <a:rPr b="1" dirty="0"/>
              <a:t>Attrition by Performance Rating</a:t>
            </a:r>
            <a:endParaRPr dirty="0"/>
          </a:p>
          <a:p>
            <a:r>
              <a:rPr b="0" dirty="0"/>
              <a:t>No alt text provided</a:t>
            </a:r>
            <a:endParaRPr dirty="0"/>
          </a:p>
          <a:p>
            <a:endParaRPr dirty="0"/>
          </a:p>
          <a:p>
            <a:r>
              <a:rPr b="1" dirty="0"/>
              <a:t>Attrition by Job Satisfaction</a:t>
            </a:r>
            <a:endParaRPr dirty="0"/>
          </a:p>
          <a:p>
            <a:r>
              <a:rPr b="0" dirty="0"/>
              <a:t>No alt text provided</a:t>
            </a:r>
            <a:endParaRPr dirty="0"/>
          </a:p>
          <a:p>
            <a:endParaRPr dirty="0"/>
          </a:p>
          <a:p>
            <a:r>
              <a:rPr b="1" dirty="0"/>
              <a:t>Attrition by Environment Satisfaction</a:t>
            </a:r>
            <a:endParaRPr dirty="0"/>
          </a:p>
          <a:p>
            <a:r>
              <a:rPr b="0" dirty="0"/>
              <a:t>No alt text provided</a:t>
            </a:r>
            <a:endParaRPr dirty="0"/>
          </a:p>
          <a:p>
            <a:endParaRPr dirty="0"/>
          </a:p>
          <a:p>
            <a:r>
              <a:rPr b="1" dirty="0"/>
              <a:t>Avg monthly Income</a:t>
            </a:r>
            <a:endParaRPr dirty="0"/>
          </a:p>
          <a:p>
            <a:r>
              <a:rPr b="0" dirty="0"/>
              <a:t>No alt text provided</a:t>
            </a:r>
            <a:endParaRPr dirty="0"/>
          </a:p>
          <a:p>
            <a:endParaRPr dirty="0"/>
          </a:p>
          <a:p>
            <a:r>
              <a:rPr b="1" dirty="0"/>
              <a:t>Total Employees</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750450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474010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55005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ED9C8-F09A-4D9E-BEC0-4725162E21F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292303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ED9C8-F09A-4D9E-BEC0-4725162E21FF}"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632765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ED9C8-F09A-4D9E-BEC0-4725162E21FF}"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202132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7409356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2604763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7940504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672399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645781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4904618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90690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4598620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3316903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ED9C8-F09A-4D9E-BEC0-4725162E21F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270788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5/20/2026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27ED9C8-F09A-4D9E-BEC0-4725162E21FF}" type="datetimeFigureOut">
              <a:rPr lang="en-US" smtClean="0"/>
              <a:t>5/20/2026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9533513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43fc0670-bc24-4453-9a49-0df52d68328f?pbi_source=PowerPoint" TargetMode="External"/><Relationship Id="rId2" Type="http://schemas.openxmlformats.org/officeDocument/2006/relationships/image" Target="../media/image1.png"/><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aaa5bcb9-58e9-4f4a-9712-48450918ed49/?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43fc0670-bc24-4453-9a49-0df52d68328f/?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43fc0670-bc24-4453-9a49-0df52d68328f/?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43fc0670-bc24-4453-9a49-0df52d68328f/?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app.powerbi.com/groups/me/reports/43fc0670-bc24-4453-9a49-0df52d68328f/?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0" y="2982913"/>
            <a:ext cx="6313488"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Hr Employee Attrition</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5/18/2026 3:41:20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5/18/2026 12:56:02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CBD1BA-36B9-B527-E65D-F3C575037E8C}"/>
              </a:ext>
            </a:extLst>
          </p:cNvPr>
          <p:cNvSpPr>
            <a:spLocks noGrp="1"/>
          </p:cNvSpPr>
          <p:nvPr>
            <p:ph type="title"/>
          </p:nvPr>
        </p:nvSpPr>
        <p:spPr>
          <a:xfrm>
            <a:off x="677334" y="1115785"/>
            <a:ext cx="8596668" cy="696686"/>
          </a:xfrm>
        </p:spPr>
        <p:txBody>
          <a:bodyPr vert="horz" lIns="91440" tIns="45720" rIns="91440" bIns="45720" rtlCol="0" anchor="t">
            <a:normAutofit/>
          </a:bodyPr>
          <a:lstStyle/>
          <a:p>
            <a:r>
              <a:rPr lang="en-US" b="1" dirty="0"/>
              <a:t>Overview</a:t>
            </a:r>
          </a:p>
        </p:txBody>
      </p:sp>
      <p:sp>
        <p:nvSpPr>
          <p:cNvPr id="5" name="Content Placeholder 4">
            <a:extLst>
              <a:ext uri="{FF2B5EF4-FFF2-40B4-BE49-F238E27FC236}">
                <a16:creationId xmlns:a16="http://schemas.microsoft.com/office/drawing/2014/main" id="{D2D056EE-17C8-2A80-F13F-4D4778B67981}"/>
              </a:ext>
            </a:extLst>
          </p:cNvPr>
          <p:cNvSpPr>
            <a:spLocks noGrp="1"/>
          </p:cNvSpPr>
          <p:nvPr>
            <p:ph idx="1"/>
          </p:nvPr>
        </p:nvSpPr>
        <p:spPr/>
        <p:txBody>
          <a:bodyPr vert="horz" lIns="91440" tIns="45720" rIns="91440" bIns="45720" rtlCol="0">
            <a:normAutofit/>
          </a:bodyPr>
          <a:lstStyle/>
          <a:p>
            <a:pPr marL="0" indent="0">
              <a:lnSpc>
                <a:spcPct val="150000"/>
              </a:lnSpc>
              <a:buNone/>
            </a:pPr>
            <a:r>
              <a:rPr lang="en-US" sz="2400" dirty="0">
                <a:latin typeface="Comic Sans MS" panose="030F0702030302020204" pitchFamily="66" charset="0"/>
              </a:rPr>
              <a:t>Shows workforce composition, attrition patterns, compensation distribution, and engagement indicators to identify drivers of employee turnover and highlight high-risk segments. It surfaces key KPIs, compares attrition across roles and departments, examines overtime and travel effects, and profiles tenure and age cohorts to guide targeted retention actions.</a:t>
            </a:r>
          </a:p>
        </p:txBody>
      </p:sp>
    </p:spTree>
    <p:extLst>
      <p:ext uri="{BB962C8B-B14F-4D97-AF65-F5344CB8AC3E}">
        <p14:creationId xmlns:p14="http://schemas.microsoft.com/office/powerpoint/2010/main" val="3841869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56AC0-4B90-B8AE-AEDD-6830721891ED}"/>
              </a:ext>
            </a:extLst>
          </p:cNvPr>
          <p:cNvSpPr>
            <a:spLocks noGrp="1"/>
          </p:cNvSpPr>
          <p:nvPr>
            <p:ph type="title"/>
          </p:nvPr>
        </p:nvSpPr>
        <p:spPr/>
        <p:txBody>
          <a:bodyPr/>
          <a:lstStyle/>
          <a:p>
            <a:r>
              <a:rPr lang="en-US" b="1" dirty="0"/>
              <a:t>Task Performed</a:t>
            </a:r>
          </a:p>
        </p:txBody>
      </p:sp>
      <p:sp>
        <p:nvSpPr>
          <p:cNvPr id="3" name="Content Placeholder 2">
            <a:extLst>
              <a:ext uri="{FF2B5EF4-FFF2-40B4-BE49-F238E27FC236}">
                <a16:creationId xmlns:a16="http://schemas.microsoft.com/office/drawing/2014/main" id="{909A9BDA-BB2D-C5CA-0C53-1493CD46FA5D}"/>
              </a:ext>
            </a:extLst>
          </p:cNvPr>
          <p:cNvSpPr>
            <a:spLocks noGrp="1"/>
          </p:cNvSpPr>
          <p:nvPr>
            <p:ph idx="1"/>
          </p:nvPr>
        </p:nvSpPr>
        <p:spPr/>
        <p:txBody>
          <a:bodyPr>
            <a:normAutofit fontScale="92500"/>
          </a:bodyPr>
          <a:lstStyle/>
          <a:p>
            <a:pPr marL="0" indent="0">
              <a:buNone/>
            </a:pPr>
            <a:r>
              <a:rPr lang="en-US" sz="2400" dirty="0">
                <a:latin typeface="Comic Sans MS" panose="030F0702030302020204" pitchFamily="66" charset="0"/>
              </a:rPr>
              <a:t>I downloaded the dataset and uploaded the data using the "Get Data" option in Power BI. Then, I utilized the "Transform" option to check for any null values in the dataset. </a:t>
            </a:r>
          </a:p>
          <a:p>
            <a:pPr marL="0" indent="0">
              <a:buNone/>
            </a:pPr>
            <a:endParaRPr lang="en-US" sz="2400" dirty="0">
              <a:latin typeface="Comic Sans MS" panose="030F0702030302020204" pitchFamily="66" charset="0"/>
            </a:endParaRPr>
          </a:p>
          <a:p>
            <a:r>
              <a:rPr lang="en-US" sz="2400" dirty="0">
                <a:latin typeface="Comic Sans MS" panose="030F0702030302020204" pitchFamily="66" charset="0"/>
              </a:rPr>
              <a:t>Deleting redundant columns.</a:t>
            </a:r>
          </a:p>
          <a:p>
            <a:r>
              <a:rPr lang="en-US" sz="2400" dirty="0">
                <a:latin typeface="Comic Sans MS" panose="030F0702030302020204" pitchFamily="66" charset="0"/>
              </a:rPr>
              <a:t>Renaming the columns.</a:t>
            </a:r>
          </a:p>
          <a:p>
            <a:r>
              <a:rPr lang="en-US" sz="2400" dirty="0">
                <a:latin typeface="Comic Sans MS" panose="030F0702030302020204" pitchFamily="66" charset="0"/>
              </a:rPr>
              <a:t>Dropping duplicates.</a:t>
            </a:r>
          </a:p>
          <a:p>
            <a:r>
              <a:rPr lang="en-US" sz="2400" dirty="0">
                <a:latin typeface="Comic Sans MS" panose="030F0702030302020204" pitchFamily="66" charset="0"/>
              </a:rPr>
              <a:t>Cleaning individual columns.</a:t>
            </a:r>
          </a:p>
          <a:p>
            <a:r>
              <a:rPr lang="en-US" sz="2400" dirty="0">
                <a:latin typeface="Comic Sans MS" panose="030F0702030302020204" pitchFamily="66" charset="0"/>
              </a:rPr>
              <a:t>Remove the </a:t>
            </a:r>
            <a:r>
              <a:rPr lang="en-US" sz="2400" dirty="0" err="1">
                <a:latin typeface="Comic Sans MS" panose="030F0702030302020204" pitchFamily="66" charset="0"/>
              </a:rPr>
              <a:t>NaN</a:t>
            </a:r>
            <a:r>
              <a:rPr lang="en-US" sz="2400" dirty="0">
                <a:latin typeface="Comic Sans MS" panose="030F0702030302020204" pitchFamily="66" charset="0"/>
              </a:rPr>
              <a:t> values from the dataset </a:t>
            </a:r>
          </a:p>
        </p:txBody>
      </p:sp>
    </p:spTree>
    <p:extLst>
      <p:ext uri="{BB962C8B-B14F-4D97-AF65-F5344CB8AC3E}">
        <p14:creationId xmlns:p14="http://schemas.microsoft.com/office/powerpoint/2010/main" val="4220054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textbox ,image ,image ,shape ,textbox ,textbox ,image ,image ,shape ,shape ,textbox ,textbox ,textbox ,textbox ,textbox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Overview</a:t>
            </a:r>
          </a:p>
        </p:txBody>
      </p:sp>
    </p:spTree>
    <p:extLst>
      <p:ext uri="{BB962C8B-B14F-4D97-AF65-F5344CB8AC3E}">
        <p14:creationId xmlns:p14="http://schemas.microsoft.com/office/powerpoint/2010/main" val="17249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tal Employees ,Attrition by Gender ,Attrition by Education Field ,Attrition by Age ,Attrition by Work Life Balance ,Attrition by Distance From Home ,Attrition by Marital Status and Gender ,Employees Remaining ,Employees that left ,shape ,textbox ,image. Please refer to the notes on this slide for details">
            <a:hlinkClick r:id="rId3"/>
          </p:cNvPr>
          <p:cNvPicPr>
            <a:picLocks noChangeAspect="1"/>
          </p:cNvPicPr>
          <p:nvPr/>
        </p:nvPicPr>
        <p:blipFill>
          <a:blip r:embed="rId4"/>
          <a:stretch>
            <a:fillRect/>
          </a:stretch>
        </p:blipFill>
        <p:spPr>
          <a:xfrm>
            <a:off x="161925" y="0"/>
            <a:ext cx="11849100" cy="6858000"/>
          </a:xfrm>
          <a:prstGeom prst="rect">
            <a:avLst/>
          </a:prstGeom>
          <a:noFill/>
        </p:spPr>
      </p:pic>
      <p:sp>
        <p:nvSpPr>
          <p:cNvPr id="4" name="Title" hidden="1"/>
          <p:cNvSpPr>
            <a:spLocks noGrp="1"/>
          </p:cNvSpPr>
          <p:nvPr>
            <p:ph type="title"/>
          </p:nvPr>
        </p:nvSpPr>
        <p:spPr/>
        <p:txBody>
          <a:bodyPr/>
          <a:lstStyle/>
          <a:p>
            <a:r>
              <a:t>Demographics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Job role Count ,shape ,textbox ,image ,barChart ,donutChart ,columnChart ,clusteredBarChart ,tableEx. Please refer to the notes on this slide for details">
            <a:hlinkClick r:id="rId3"/>
          </p:cNvPr>
          <p:cNvPicPr>
            <a:picLocks noChangeAspect="1"/>
          </p:cNvPicPr>
          <p:nvPr/>
        </p:nvPicPr>
        <p:blipFill>
          <a:blip r:embed="rId4"/>
          <a:stretch>
            <a:fillRect/>
          </a:stretch>
        </p:blipFill>
        <p:spPr>
          <a:xfrm>
            <a:off x="876300" y="0"/>
            <a:ext cx="10429875" cy="6858000"/>
          </a:xfrm>
          <a:prstGeom prst="rect">
            <a:avLst/>
          </a:prstGeom>
          <a:noFill/>
        </p:spPr>
      </p:pic>
      <p:sp>
        <p:nvSpPr>
          <p:cNvPr id="4" name="Title" hidden="1"/>
          <p:cNvSpPr>
            <a:spLocks noGrp="1"/>
          </p:cNvSpPr>
          <p:nvPr>
            <p:ph type="title"/>
          </p:nvPr>
        </p:nvSpPr>
        <p:spPr/>
        <p:txBody>
          <a:bodyPr/>
          <a:lstStyle/>
          <a:p>
            <a:r>
              <a:t>Turnover analysis1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textbox ,image ,Attrition by Age and Gender ,Attrition by OverTime ,Attrition by Performance Rating ,Attrition by Overtime ,Average of Monthly Income and Attrition by Job Role. Please refer to the notes on this slide for details">
            <a:hlinkClick r:id="rId3"/>
          </p:cNvPr>
          <p:cNvPicPr>
            <a:picLocks noChangeAspect="1"/>
          </p:cNvPicPr>
          <p:nvPr/>
        </p:nvPicPr>
        <p:blipFill>
          <a:blip r:embed="rId4"/>
          <a:stretch>
            <a:fillRect/>
          </a:stretch>
        </p:blipFill>
        <p:spPr>
          <a:xfrm>
            <a:off x="161925" y="0"/>
            <a:ext cx="11849100" cy="6858000"/>
          </a:xfrm>
          <a:prstGeom prst="rect">
            <a:avLst/>
          </a:prstGeom>
          <a:noFill/>
        </p:spPr>
      </p:pic>
      <p:sp>
        <p:nvSpPr>
          <p:cNvPr id="4" name="Title" hidden="1"/>
          <p:cNvSpPr>
            <a:spLocks noGrp="1"/>
          </p:cNvSpPr>
          <p:nvPr>
            <p:ph type="title"/>
          </p:nvPr>
        </p:nvSpPr>
        <p:spPr/>
        <p:txBody>
          <a:bodyPr/>
          <a:lstStyle/>
          <a:p>
            <a:r>
              <a:t>Turnover analysis2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textbox ,image ,Attrition by Job Involvement ,Attrition by Relationship Satisfaction ,Attrition by Work Life Balance ,Attrition by Performance Rating ,Attrition by Job Satisfaction ,Attrition by Environment Satisfaction ,Avg monthly Income ,Total Employees. Please refer to the notes on this slide for details">
            <a:hlinkClick r:id="rId3"/>
          </p:cNvPr>
          <p:cNvPicPr>
            <a:picLocks noChangeAspect="1"/>
          </p:cNvPicPr>
          <p:nvPr/>
        </p:nvPicPr>
        <p:blipFill>
          <a:blip r:embed="rId4"/>
          <a:stretch>
            <a:fillRect/>
          </a:stretch>
        </p:blipFill>
        <p:spPr>
          <a:xfrm>
            <a:off x="161925" y="0"/>
            <a:ext cx="11849100" cy="6858000"/>
          </a:xfrm>
          <a:prstGeom prst="rect">
            <a:avLst/>
          </a:prstGeom>
          <a:noFill/>
        </p:spPr>
      </p:pic>
      <p:sp>
        <p:nvSpPr>
          <p:cNvPr id="4" name="Title" hidden="1"/>
          <p:cNvSpPr>
            <a:spLocks noGrp="1"/>
          </p:cNvSpPr>
          <p:nvPr>
            <p:ph type="title"/>
          </p:nvPr>
        </p:nvSpPr>
        <p:spPr/>
        <p:txBody>
          <a:bodyPr/>
          <a:lstStyle/>
          <a:p>
            <a:r>
              <a:t>Employee Wellness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3159-8B90-42BB-56EB-8A6E5573DE60}"/>
              </a:ext>
            </a:extLst>
          </p:cNvPr>
          <p:cNvSpPr>
            <a:spLocks noGrp="1"/>
          </p:cNvSpPr>
          <p:nvPr>
            <p:ph type="title"/>
          </p:nvPr>
        </p:nvSpPr>
        <p:spPr/>
        <p:txBody>
          <a:bodyPr/>
          <a:lstStyle/>
          <a:p>
            <a:r>
              <a:rPr lang="en-US" dirty="0"/>
              <a:t>Overall Insight</a:t>
            </a:r>
          </a:p>
        </p:txBody>
      </p:sp>
      <p:sp>
        <p:nvSpPr>
          <p:cNvPr id="3" name="Content Placeholder 2">
            <a:extLst>
              <a:ext uri="{FF2B5EF4-FFF2-40B4-BE49-F238E27FC236}">
                <a16:creationId xmlns:a16="http://schemas.microsoft.com/office/drawing/2014/main" id="{D952D0A7-0782-219D-4F1C-A4D785A5E735}"/>
              </a:ext>
            </a:extLst>
          </p:cNvPr>
          <p:cNvSpPr>
            <a:spLocks noGrp="1"/>
          </p:cNvSpPr>
          <p:nvPr>
            <p:ph idx="1"/>
          </p:nvPr>
        </p:nvSpPr>
        <p:spPr/>
        <p:txBody>
          <a:bodyPr>
            <a:normAutofit/>
          </a:bodyPr>
          <a:lstStyle/>
          <a:p>
            <a:pPr>
              <a:lnSpc>
                <a:spcPct val="150000"/>
              </a:lnSpc>
            </a:pPr>
            <a:r>
              <a:rPr lang="en-US" sz="2000" dirty="0">
                <a:latin typeface="Comic Sans MS" panose="030F0702030302020204" pitchFamily="66" charset="0"/>
              </a:rPr>
              <a:t>Sales Representatives are the single biggest attrition problem: ~40% attrition rate from a headcount of 83, far above other roles.</a:t>
            </a:r>
          </a:p>
          <a:p>
            <a:pPr>
              <a:lnSpc>
                <a:spcPct val="150000"/>
              </a:lnSpc>
            </a:pPr>
            <a:r>
              <a:rPr lang="en-US" sz="2000" dirty="0">
                <a:latin typeface="Comic Sans MS" panose="030F0702030302020204" pitchFamily="66" charset="0"/>
              </a:rPr>
              <a:t>Laboratory Technicians (24% attrition) and Human Resources (23% attrition) are additional high-risk roles with material headcounts.</a:t>
            </a:r>
          </a:p>
          <a:p>
            <a:pPr>
              <a:lnSpc>
                <a:spcPct val="150000"/>
              </a:lnSpc>
            </a:pPr>
            <a:r>
              <a:rPr lang="en-US" sz="2000" dirty="0">
                <a:latin typeface="Comic Sans MS" panose="030F0702030302020204" pitchFamily="66" charset="0"/>
              </a:rPr>
              <a:t>Senior and leadership roles (Manager, Research Director, Manufacturing Director) show very low attrition (≈2.5–6.9%), indicating turnover is concentrated in frontline/technical roles</a:t>
            </a:r>
          </a:p>
        </p:txBody>
      </p:sp>
    </p:spTree>
    <p:extLst>
      <p:ext uri="{BB962C8B-B14F-4D97-AF65-F5344CB8AC3E}">
        <p14:creationId xmlns:p14="http://schemas.microsoft.com/office/powerpoint/2010/main" val="3713257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D15E0-4304-611C-C4E3-FD89AE2F0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AB957-25E8-3EAB-86A8-963FB3E1C325}"/>
              </a:ext>
            </a:extLst>
          </p:cNvPr>
          <p:cNvSpPr>
            <a:spLocks noGrp="1"/>
          </p:cNvSpPr>
          <p:nvPr>
            <p:ph type="title"/>
          </p:nvPr>
        </p:nvSpPr>
        <p:spPr/>
        <p:txBody>
          <a:bodyPr/>
          <a:lstStyle/>
          <a:p>
            <a:r>
              <a:rPr lang="en-US" dirty="0"/>
              <a:t>Overall Insight</a:t>
            </a:r>
          </a:p>
        </p:txBody>
      </p:sp>
      <p:sp>
        <p:nvSpPr>
          <p:cNvPr id="3" name="Content Placeholder 2">
            <a:extLst>
              <a:ext uri="{FF2B5EF4-FFF2-40B4-BE49-F238E27FC236}">
                <a16:creationId xmlns:a16="http://schemas.microsoft.com/office/drawing/2014/main" id="{CE5C6E74-BA31-A435-D1D2-6C1B2CA33F0F}"/>
              </a:ext>
            </a:extLst>
          </p:cNvPr>
          <p:cNvSpPr>
            <a:spLocks noGrp="1"/>
          </p:cNvSpPr>
          <p:nvPr>
            <p:ph idx="1"/>
          </p:nvPr>
        </p:nvSpPr>
        <p:spPr/>
        <p:txBody>
          <a:bodyPr>
            <a:normAutofit lnSpcReduction="10000"/>
          </a:bodyPr>
          <a:lstStyle/>
          <a:p>
            <a:pPr>
              <a:lnSpc>
                <a:spcPct val="150000"/>
              </a:lnSpc>
            </a:pPr>
            <a:r>
              <a:rPr lang="en-US" sz="2000" dirty="0">
                <a:latin typeface="Comic Sans MS" panose="030F0702030302020204" pitchFamily="66" charset="0"/>
              </a:rPr>
              <a:t>Attrition is heavily front-loaded: employees in the first year (tenure 0–1 years) experience the highest attrition (≈34–36%), pointing to new-hire retention as a major issue.</a:t>
            </a:r>
          </a:p>
          <a:p>
            <a:pPr>
              <a:lnSpc>
                <a:spcPct val="150000"/>
              </a:lnSpc>
            </a:pPr>
            <a:r>
              <a:rPr lang="en-US" sz="2000" dirty="0">
                <a:latin typeface="Comic Sans MS" panose="030F0702030302020204" pitchFamily="66" charset="0"/>
              </a:rPr>
              <a:t>After year 1, attrition drops sharply and stabilizes in mid-tenure (2–10 years) at much lower rates (~12–18%), so most turnover risk is early in tenure.</a:t>
            </a:r>
          </a:p>
          <a:p>
            <a:pPr>
              <a:lnSpc>
                <a:spcPct val="150000"/>
              </a:lnSpc>
            </a:pPr>
            <a:r>
              <a:rPr lang="en-US" sz="2000" dirty="0">
                <a:latin typeface="Comic Sans MS" panose="030F0702030302020204" pitchFamily="66" charset="0"/>
              </a:rPr>
              <a:t>Long-tenure employees (11+ years) have the lowest attrition (≈6.5–16%), suggesting retention improves substantially with tenure.</a:t>
            </a:r>
          </a:p>
        </p:txBody>
      </p:sp>
    </p:spTree>
    <p:extLst>
      <p:ext uri="{BB962C8B-B14F-4D97-AF65-F5344CB8AC3E}">
        <p14:creationId xmlns:p14="http://schemas.microsoft.com/office/powerpoint/2010/main" val="252110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42184-270E-3242-96D2-71B2EF1FA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4F17C-80B4-441A-02C5-90927AAD62A6}"/>
              </a:ext>
            </a:extLst>
          </p:cNvPr>
          <p:cNvSpPr>
            <a:spLocks noGrp="1"/>
          </p:cNvSpPr>
          <p:nvPr>
            <p:ph type="title"/>
          </p:nvPr>
        </p:nvSpPr>
        <p:spPr/>
        <p:txBody>
          <a:bodyPr/>
          <a:lstStyle/>
          <a:p>
            <a:r>
              <a:rPr lang="en-US" dirty="0"/>
              <a:t>Overall Insight</a:t>
            </a:r>
          </a:p>
        </p:txBody>
      </p:sp>
      <p:sp>
        <p:nvSpPr>
          <p:cNvPr id="3" name="Content Placeholder 2">
            <a:extLst>
              <a:ext uri="{FF2B5EF4-FFF2-40B4-BE49-F238E27FC236}">
                <a16:creationId xmlns:a16="http://schemas.microsoft.com/office/drawing/2014/main" id="{FFBDF328-70E6-84BA-8497-74121B3360F9}"/>
              </a:ext>
            </a:extLst>
          </p:cNvPr>
          <p:cNvSpPr>
            <a:spLocks noGrp="1"/>
          </p:cNvSpPr>
          <p:nvPr>
            <p:ph idx="1"/>
          </p:nvPr>
        </p:nvSpPr>
        <p:spPr/>
        <p:txBody>
          <a:bodyPr>
            <a:normAutofit lnSpcReduction="10000"/>
          </a:bodyPr>
          <a:lstStyle/>
          <a:p>
            <a:pPr>
              <a:lnSpc>
                <a:spcPct val="150000"/>
              </a:lnSpc>
            </a:pPr>
            <a:r>
              <a:rPr lang="en-US" sz="2000" dirty="0">
                <a:latin typeface="Comic Sans MS" panose="030F0702030302020204" pitchFamily="66" charset="0"/>
              </a:rPr>
              <a:t>There is a pronounced anomalous spike in attrition around tenure year ~31 (attrition ~50%), likely a data or cohort anomaly that requires investigation.</a:t>
            </a:r>
          </a:p>
          <a:p>
            <a:pPr>
              <a:lnSpc>
                <a:spcPct val="150000"/>
              </a:lnSpc>
            </a:pPr>
            <a:r>
              <a:rPr lang="en-US" sz="2000" dirty="0">
                <a:latin typeface="Comic Sans MS" panose="030F0702030302020204" pitchFamily="66" charset="0"/>
              </a:rPr>
              <a:t>By age, most leavers are concentrated in the 31–40 band so mid-career employees are the largest source of exits.</a:t>
            </a:r>
          </a:p>
          <a:p>
            <a:pPr>
              <a:lnSpc>
                <a:spcPct val="150000"/>
              </a:lnSpc>
            </a:pPr>
            <a:r>
              <a:rPr lang="en-US" sz="2000" dirty="0">
                <a:latin typeface="Comic Sans MS" panose="030F0702030302020204" pitchFamily="66" charset="0"/>
              </a:rPr>
              <a:t>Younger (18–30) and older (41+) age groups contribute far fewer leavers in absolute terms, implying retention interventions should prioritize late-20s to late-30s employees.</a:t>
            </a:r>
          </a:p>
        </p:txBody>
      </p:sp>
    </p:spTree>
    <p:extLst>
      <p:ext uri="{BB962C8B-B14F-4D97-AF65-F5344CB8AC3E}">
        <p14:creationId xmlns:p14="http://schemas.microsoft.com/office/powerpoint/2010/main" val="2274407517"/>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TotalTime>
  <Words>746</Words>
  <Application>Microsoft Office PowerPoint</Application>
  <PresentationFormat>Widescreen</PresentationFormat>
  <Paragraphs>199</Paragraphs>
  <Slides>11</Slides>
  <Notes>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11</vt:i4>
      </vt:variant>
    </vt:vector>
  </HeadingPairs>
  <TitlesOfParts>
    <vt:vector size="22" baseType="lpstr">
      <vt:lpstr>Arial</vt:lpstr>
      <vt:lpstr>Calibri</vt:lpstr>
      <vt:lpstr>Calibri Light</vt:lpstr>
      <vt:lpstr>Comic Sans MS</vt:lpstr>
      <vt:lpstr>Segoe UI</vt:lpstr>
      <vt:lpstr>Segoe UI Light</vt:lpstr>
      <vt:lpstr>Segoe UI Semibold</vt:lpstr>
      <vt:lpstr>Trebuchet MS</vt:lpstr>
      <vt:lpstr>Wingdings 3</vt:lpstr>
      <vt:lpstr>Custom Design</vt:lpstr>
      <vt:lpstr>Facet</vt:lpstr>
      <vt:lpstr>Hr Employee Attrition</vt:lpstr>
      <vt:lpstr>Overview</vt:lpstr>
      <vt:lpstr>Task Performed</vt:lpstr>
      <vt:lpstr>Overview</vt:lpstr>
      <vt:lpstr>Demographics</vt:lpstr>
      <vt:lpstr>Turnover analysis1</vt:lpstr>
      <vt:lpstr>Turnover analysis2</vt:lpstr>
      <vt:lpstr>Employee Wellness</vt:lpstr>
      <vt:lpstr>Overall Insight</vt:lpstr>
      <vt:lpstr>Overall Insight</vt:lpstr>
      <vt:lpstr>Overall Insight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Joseph Emekpu</cp:lastModifiedBy>
  <cp:revision>7</cp:revision>
  <dcterms:created xsi:type="dcterms:W3CDTF">2016-09-04T11:54:55Z</dcterms:created>
  <dcterms:modified xsi:type="dcterms:W3CDTF">2026-05-20T13:03:27Z</dcterms:modified>
</cp:coreProperties>
</file>